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7" d="100"/>
          <a:sy n="77" d="100"/>
        </p:scale>
        <p:origin x="1618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bunuFX7nS75BQgY2eW1W0fcvrBYHLFq6?usp=chrome_ntp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50" y="451381"/>
            <a:ext cx="7884414" cy="4066540"/>
          </a:xfrm>
        </p:spPr>
        <p:txBody>
          <a:bodyPr anchor="b">
            <a:normAutofit/>
          </a:bodyPr>
          <a:lstStyle/>
          <a:p>
            <a:pPr algn="l"/>
            <a:r>
              <a:rPr lang="en-US" sz="5700"/>
              <a:t>COVID-19 Trends and Death Rates Analysis in the United States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8649" y="4983276"/>
            <a:ext cx="7884414" cy="1126680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700" dirty="0"/>
              <a:t>Student Name: Vinayak Vemula</a:t>
            </a:r>
          </a:p>
          <a:p>
            <a:pPr algn="l">
              <a:lnSpc>
                <a:spcPct val="90000"/>
              </a:lnSpc>
            </a:pPr>
            <a:r>
              <a:rPr lang="en-US" sz="2700" dirty="0"/>
              <a:t>CSIT 553: Exploratory Data Analysis and Visualization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4718595"/>
            <a:ext cx="4057650" cy="18288"/>
          </a:xfrm>
          <a:custGeom>
            <a:avLst/>
            <a:gdLst>
              <a:gd name="connsiteX0" fmla="*/ 0 w 4057650"/>
              <a:gd name="connsiteY0" fmla="*/ 0 h 18288"/>
              <a:gd name="connsiteX1" fmla="*/ 757428 w 4057650"/>
              <a:gd name="connsiteY1" fmla="*/ 0 h 18288"/>
              <a:gd name="connsiteX2" fmla="*/ 1474279 w 4057650"/>
              <a:gd name="connsiteY2" fmla="*/ 0 h 18288"/>
              <a:gd name="connsiteX3" fmla="*/ 2191131 w 4057650"/>
              <a:gd name="connsiteY3" fmla="*/ 0 h 18288"/>
              <a:gd name="connsiteX4" fmla="*/ 2745676 w 4057650"/>
              <a:gd name="connsiteY4" fmla="*/ 0 h 18288"/>
              <a:gd name="connsiteX5" fmla="*/ 3340798 w 4057650"/>
              <a:gd name="connsiteY5" fmla="*/ 0 h 18288"/>
              <a:gd name="connsiteX6" fmla="*/ 4057650 w 4057650"/>
              <a:gd name="connsiteY6" fmla="*/ 0 h 18288"/>
              <a:gd name="connsiteX7" fmla="*/ 4057650 w 4057650"/>
              <a:gd name="connsiteY7" fmla="*/ 18288 h 18288"/>
              <a:gd name="connsiteX8" fmla="*/ 3381375 w 4057650"/>
              <a:gd name="connsiteY8" fmla="*/ 18288 h 18288"/>
              <a:gd name="connsiteX9" fmla="*/ 2826830 w 4057650"/>
              <a:gd name="connsiteY9" fmla="*/ 18288 h 18288"/>
              <a:gd name="connsiteX10" fmla="*/ 2272284 w 4057650"/>
              <a:gd name="connsiteY10" fmla="*/ 18288 h 18288"/>
              <a:gd name="connsiteX11" fmla="*/ 1555432 w 4057650"/>
              <a:gd name="connsiteY11" fmla="*/ 18288 h 18288"/>
              <a:gd name="connsiteX12" fmla="*/ 960310 w 4057650"/>
              <a:gd name="connsiteY12" fmla="*/ 18288 h 18288"/>
              <a:gd name="connsiteX13" fmla="*/ 0 w 4057650"/>
              <a:gd name="connsiteY13" fmla="*/ 18288 h 18288"/>
              <a:gd name="connsiteX14" fmla="*/ 0 w 4057650"/>
              <a:gd name="connsiteY1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057650" h="18288" fill="none" extrusionOk="0">
                <a:moveTo>
                  <a:pt x="0" y="0"/>
                </a:moveTo>
                <a:cubicBezTo>
                  <a:pt x="371182" y="3227"/>
                  <a:pt x="494372" y="9222"/>
                  <a:pt x="757428" y="0"/>
                </a:cubicBezTo>
                <a:cubicBezTo>
                  <a:pt x="1020484" y="-9222"/>
                  <a:pt x="1116719" y="-4357"/>
                  <a:pt x="1474279" y="0"/>
                </a:cubicBezTo>
                <a:cubicBezTo>
                  <a:pt x="1831839" y="4357"/>
                  <a:pt x="1920973" y="-11809"/>
                  <a:pt x="2191131" y="0"/>
                </a:cubicBezTo>
                <a:cubicBezTo>
                  <a:pt x="2461289" y="11809"/>
                  <a:pt x="2589480" y="-22604"/>
                  <a:pt x="2745676" y="0"/>
                </a:cubicBezTo>
                <a:cubicBezTo>
                  <a:pt x="2901872" y="22604"/>
                  <a:pt x="3136452" y="-12306"/>
                  <a:pt x="3340798" y="0"/>
                </a:cubicBezTo>
                <a:cubicBezTo>
                  <a:pt x="3545144" y="12306"/>
                  <a:pt x="3766934" y="-21556"/>
                  <a:pt x="4057650" y="0"/>
                </a:cubicBezTo>
                <a:cubicBezTo>
                  <a:pt x="4057150" y="8855"/>
                  <a:pt x="4057759" y="14521"/>
                  <a:pt x="4057650" y="18288"/>
                </a:cubicBezTo>
                <a:cubicBezTo>
                  <a:pt x="3743404" y="40125"/>
                  <a:pt x="3625516" y="-14923"/>
                  <a:pt x="3381375" y="18288"/>
                </a:cubicBezTo>
                <a:cubicBezTo>
                  <a:pt x="3137235" y="51499"/>
                  <a:pt x="2946571" y="1"/>
                  <a:pt x="2826830" y="18288"/>
                </a:cubicBezTo>
                <a:cubicBezTo>
                  <a:pt x="2707090" y="36575"/>
                  <a:pt x="2402756" y="1432"/>
                  <a:pt x="2272284" y="18288"/>
                </a:cubicBezTo>
                <a:cubicBezTo>
                  <a:pt x="2141812" y="35144"/>
                  <a:pt x="1895935" y="18199"/>
                  <a:pt x="1555432" y="18288"/>
                </a:cubicBezTo>
                <a:cubicBezTo>
                  <a:pt x="1214929" y="18377"/>
                  <a:pt x="1103072" y="14503"/>
                  <a:pt x="960310" y="18288"/>
                </a:cubicBezTo>
                <a:cubicBezTo>
                  <a:pt x="817548" y="22073"/>
                  <a:pt x="402272" y="-29359"/>
                  <a:pt x="0" y="18288"/>
                </a:cubicBezTo>
                <a:cubicBezTo>
                  <a:pt x="683" y="12014"/>
                  <a:pt x="724" y="5908"/>
                  <a:pt x="0" y="0"/>
                </a:cubicBezTo>
                <a:close/>
              </a:path>
              <a:path w="4057650" h="18288" stroke="0" extrusionOk="0">
                <a:moveTo>
                  <a:pt x="0" y="0"/>
                </a:moveTo>
                <a:cubicBezTo>
                  <a:pt x="248348" y="13145"/>
                  <a:pt x="486117" y="25042"/>
                  <a:pt x="635698" y="0"/>
                </a:cubicBezTo>
                <a:cubicBezTo>
                  <a:pt x="785279" y="-25042"/>
                  <a:pt x="917762" y="-5537"/>
                  <a:pt x="1190244" y="0"/>
                </a:cubicBezTo>
                <a:cubicBezTo>
                  <a:pt x="1462726" y="5537"/>
                  <a:pt x="1667120" y="-21232"/>
                  <a:pt x="1947672" y="0"/>
                </a:cubicBezTo>
                <a:cubicBezTo>
                  <a:pt x="2228224" y="21232"/>
                  <a:pt x="2280631" y="-21698"/>
                  <a:pt x="2583370" y="0"/>
                </a:cubicBezTo>
                <a:cubicBezTo>
                  <a:pt x="2886109" y="21698"/>
                  <a:pt x="3022941" y="19647"/>
                  <a:pt x="3219069" y="0"/>
                </a:cubicBezTo>
                <a:cubicBezTo>
                  <a:pt x="3415197" y="-19647"/>
                  <a:pt x="3747500" y="26991"/>
                  <a:pt x="4057650" y="0"/>
                </a:cubicBezTo>
                <a:cubicBezTo>
                  <a:pt x="4056752" y="7180"/>
                  <a:pt x="4057819" y="13790"/>
                  <a:pt x="4057650" y="18288"/>
                </a:cubicBezTo>
                <a:cubicBezTo>
                  <a:pt x="3865148" y="-3313"/>
                  <a:pt x="3702543" y="49468"/>
                  <a:pt x="3381375" y="18288"/>
                </a:cubicBezTo>
                <a:cubicBezTo>
                  <a:pt x="3060208" y="-12892"/>
                  <a:pt x="2956571" y="-8678"/>
                  <a:pt x="2826830" y="18288"/>
                </a:cubicBezTo>
                <a:cubicBezTo>
                  <a:pt x="2697089" y="45254"/>
                  <a:pt x="2411031" y="43154"/>
                  <a:pt x="2150555" y="18288"/>
                </a:cubicBezTo>
                <a:cubicBezTo>
                  <a:pt x="1890080" y="-6578"/>
                  <a:pt x="1741827" y="-615"/>
                  <a:pt x="1474280" y="18288"/>
                </a:cubicBezTo>
                <a:cubicBezTo>
                  <a:pt x="1206734" y="37191"/>
                  <a:pt x="998203" y="33335"/>
                  <a:pt x="838581" y="18288"/>
                </a:cubicBezTo>
                <a:cubicBezTo>
                  <a:pt x="678959" y="3241"/>
                  <a:pt x="187101" y="-13212"/>
                  <a:pt x="0" y="18288"/>
                </a:cubicBezTo>
                <a:cubicBezTo>
                  <a:pt x="571" y="10093"/>
                  <a:pt x="-125" y="840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Project Overview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n-US" sz="1900"/>
              <a:t>Objective: Analyze COVID-19 case trends and mortality across US states.</a:t>
            </a:r>
          </a:p>
          <a:p>
            <a:r>
              <a:rPr lang="en-US" sz="1900"/>
              <a:t>Techniques used: EDA, Aggregation, Map Visualizations, Interactive Time Series.</a:t>
            </a:r>
          </a:p>
          <a:p>
            <a:r>
              <a:rPr lang="en-US" sz="1900"/>
              <a:t>Understand geographical and time-based patterns in COVID-19 spread.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Dataset Description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n-US" sz="1900"/>
              <a:t>Dataset: COVID-19 Data Repository by Johns Hopkins University (CSSE)</a:t>
            </a:r>
          </a:p>
          <a:p>
            <a:r>
              <a:rPr lang="en-US" sz="1900"/>
              <a:t>Source: https://github.com/CSSEGISandData/COVID-19</a:t>
            </a:r>
          </a:p>
          <a:p>
            <a:r>
              <a:rPr lang="en-US" sz="1900"/>
              <a:t>Fields Used: Province_State, Lat, Long_, Date-wise cumulative Cases and Deaths.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502920"/>
            <a:ext cx="2564892" cy="146304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/>
              <a:t>Data Loading &amp; Cleaning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480309" y="1227582"/>
            <a:ext cx="1554480" cy="13716"/>
          </a:xfrm>
          <a:custGeom>
            <a:avLst/>
            <a:gdLst>
              <a:gd name="connsiteX0" fmla="*/ 0 w 1554480"/>
              <a:gd name="connsiteY0" fmla="*/ 0 h 13716"/>
              <a:gd name="connsiteX1" fmla="*/ 549250 w 1554480"/>
              <a:gd name="connsiteY1" fmla="*/ 0 h 13716"/>
              <a:gd name="connsiteX2" fmla="*/ 1082954 w 1554480"/>
              <a:gd name="connsiteY2" fmla="*/ 0 h 13716"/>
              <a:gd name="connsiteX3" fmla="*/ 1554480 w 1554480"/>
              <a:gd name="connsiteY3" fmla="*/ 0 h 13716"/>
              <a:gd name="connsiteX4" fmla="*/ 1554480 w 1554480"/>
              <a:gd name="connsiteY4" fmla="*/ 13716 h 13716"/>
              <a:gd name="connsiteX5" fmla="*/ 1067410 w 1554480"/>
              <a:gd name="connsiteY5" fmla="*/ 13716 h 13716"/>
              <a:gd name="connsiteX6" fmla="*/ 549250 w 1554480"/>
              <a:gd name="connsiteY6" fmla="*/ 13716 h 13716"/>
              <a:gd name="connsiteX7" fmla="*/ 0 w 1554480"/>
              <a:gd name="connsiteY7" fmla="*/ 13716 h 13716"/>
              <a:gd name="connsiteX8" fmla="*/ 0 w 1554480"/>
              <a:gd name="connsiteY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0721" y="502920"/>
            <a:ext cx="5170932" cy="146304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600"/>
              <a:t>Loaded two CSV files: Confirmed Cases and Deaths in the USA.</a:t>
            </a:r>
          </a:p>
          <a:p>
            <a:pPr>
              <a:lnSpc>
                <a:spcPct val="90000"/>
              </a:lnSpc>
            </a:pPr>
            <a:r>
              <a:rPr lang="en-US" sz="1600"/>
              <a:t>Selected essential columns (State, Lat, Long, Dates).</a:t>
            </a:r>
          </a:p>
          <a:p>
            <a:pPr>
              <a:lnSpc>
                <a:spcPct val="90000"/>
              </a:lnSpc>
            </a:pPr>
            <a:r>
              <a:rPr lang="en-US" sz="1600"/>
              <a:t>Grouped by State.</a:t>
            </a:r>
          </a:p>
          <a:p>
            <a:pPr>
              <a:lnSpc>
                <a:spcPct val="90000"/>
              </a:lnSpc>
            </a:pPr>
            <a:r>
              <a:rPr lang="en-US" sz="1600"/>
              <a:t>Checked for missing values (minimal).</a:t>
            </a:r>
          </a:p>
        </p:txBody>
      </p:sp>
      <p:pic>
        <p:nvPicPr>
          <p:cNvPr id="5" name="Picture 4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F5E100FC-3AE5-EE8A-D92A-71BB3380C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12" y="2858104"/>
            <a:ext cx="8843722" cy="35426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4346" y="638089"/>
            <a:ext cx="3614166" cy="1476801"/>
          </a:xfrm>
        </p:spPr>
        <p:txBody>
          <a:bodyPr anchor="b">
            <a:normAutofit/>
          </a:bodyPr>
          <a:lstStyle/>
          <a:p>
            <a:r>
              <a:rPr lang="en-US" sz="4300"/>
              <a:t>Descriptive Statistics (EDA)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6B38659-75C7-1DD3-CFE0-A1110D972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" y="1768430"/>
            <a:ext cx="4246282" cy="3268439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54346" y="2372868"/>
            <a:ext cx="2441321" cy="18288"/>
          </a:xfrm>
          <a:custGeom>
            <a:avLst/>
            <a:gdLst>
              <a:gd name="connsiteX0" fmla="*/ 0 w 2441321"/>
              <a:gd name="connsiteY0" fmla="*/ 0 h 18288"/>
              <a:gd name="connsiteX1" fmla="*/ 585917 w 2441321"/>
              <a:gd name="connsiteY1" fmla="*/ 0 h 18288"/>
              <a:gd name="connsiteX2" fmla="*/ 1196247 w 2441321"/>
              <a:gd name="connsiteY2" fmla="*/ 0 h 18288"/>
              <a:gd name="connsiteX3" fmla="*/ 1806578 w 2441321"/>
              <a:gd name="connsiteY3" fmla="*/ 0 h 18288"/>
              <a:gd name="connsiteX4" fmla="*/ 2441321 w 2441321"/>
              <a:gd name="connsiteY4" fmla="*/ 0 h 18288"/>
              <a:gd name="connsiteX5" fmla="*/ 2441321 w 2441321"/>
              <a:gd name="connsiteY5" fmla="*/ 18288 h 18288"/>
              <a:gd name="connsiteX6" fmla="*/ 1830991 w 2441321"/>
              <a:gd name="connsiteY6" fmla="*/ 18288 h 18288"/>
              <a:gd name="connsiteX7" fmla="*/ 1269487 w 2441321"/>
              <a:gd name="connsiteY7" fmla="*/ 18288 h 18288"/>
              <a:gd name="connsiteX8" fmla="*/ 707983 w 2441321"/>
              <a:gd name="connsiteY8" fmla="*/ 18288 h 18288"/>
              <a:gd name="connsiteX9" fmla="*/ 0 w 2441321"/>
              <a:gd name="connsiteY9" fmla="*/ 18288 h 18288"/>
              <a:gd name="connsiteX10" fmla="*/ 0 w 2441321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4346" y="2664886"/>
            <a:ext cx="3614166" cy="3550789"/>
          </a:xfrm>
        </p:spPr>
        <p:txBody>
          <a:bodyPr anchor="t">
            <a:normAutofit/>
          </a:bodyPr>
          <a:lstStyle/>
          <a:p>
            <a:r>
              <a:rPr lang="en-US" sz="1900"/>
              <a:t>Total Cases and Deaths summarized per state.</a:t>
            </a:r>
          </a:p>
          <a:p>
            <a:r>
              <a:rPr lang="en-US" sz="1900"/>
              <a:t>Descriptive stats: Mean, Min, Max, Standard Deviation.</a:t>
            </a:r>
          </a:p>
          <a:p>
            <a:r>
              <a:rPr lang="en-US" sz="1900"/>
              <a:t>California, Texas among highest cases.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/>
              <a:t>Data Aggregation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onnsiteX0" fmla="*/ 0 w 2441321"/>
              <a:gd name="connsiteY0" fmla="*/ 0 h 18288"/>
              <a:gd name="connsiteX1" fmla="*/ 585917 w 2441321"/>
              <a:gd name="connsiteY1" fmla="*/ 0 h 18288"/>
              <a:gd name="connsiteX2" fmla="*/ 1196247 w 2441321"/>
              <a:gd name="connsiteY2" fmla="*/ 0 h 18288"/>
              <a:gd name="connsiteX3" fmla="*/ 1806578 w 2441321"/>
              <a:gd name="connsiteY3" fmla="*/ 0 h 18288"/>
              <a:gd name="connsiteX4" fmla="*/ 2441321 w 2441321"/>
              <a:gd name="connsiteY4" fmla="*/ 0 h 18288"/>
              <a:gd name="connsiteX5" fmla="*/ 2441321 w 2441321"/>
              <a:gd name="connsiteY5" fmla="*/ 18288 h 18288"/>
              <a:gd name="connsiteX6" fmla="*/ 1830991 w 2441321"/>
              <a:gd name="connsiteY6" fmla="*/ 18288 h 18288"/>
              <a:gd name="connsiteX7" fmla="*/ 1269487 w 2441321"/>
              <a:gd name="connsiteY7" fmla="*/ 18288 h 18288"/>
              <a:gd name="connsiteX8" fmla="*/ 707983 w 2441321"/>
              <a:gd name="connsiteY8" fmla="*/ 18288 h 18288"/>
              <a:gd name="connsiteX9" fmla="*/ 0 w 2441321"/>
              <a:gd name="connsiteY9" fmla="*/ 18288 h 18288"/>
              <a:gd name="connsiteX10" fmla="*/ 0 w 2441321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202" y="2807208"/>
            <a:ext cx="2571750" cy="3410712"/>
          </a:xfrm>
        </p:spPr>
        <p:txBody>
          <a:bodyPr anchor="t">
            <a:normAutofit/>
          </a:bodyPr>
          <a:lstStyle/>
          <a:p>
            <a:r>
              <a:rPr lang="en-US" sz="1900"/>
              <a:t>Aggregated total cases and deaths at the State level.</a:t>
            </a:r>
          </a:p>
          <a:p>
            <a:r>
              <a:rPr lang="en-US" sz="1900"/>
              <a:t>Simplified county-level data into state summaries.</a:t>
            </a:r>
          </a:p>
        </p:txBody>
      </p:sp>
      <p:pic>
        <p:nvPicPr>
          <p:cNvPr id="11" name="Picture 10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7B5C524D-5A6B-7978-E356-57008C09D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722" y="2166913"/>
            <a:ext cx="5177790" cy="290653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502920"/>
            <a:ext cx="2564892" cy="146304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600"/>
              <a:t>Map Visualization 1: Choropleth Map</a:t>
            </a: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480309" y="1227582"/>
            <a:ext cx="1554480" cy="13716"/>
          </a:xfrm>
          <a:custGeom>
            <a:avLst/>
            <a:gdLst>
              <a:gd name="connsiteX0" fmla="*/ 0 w 1554480"/>
              <a:gd name="connsiteY0" fmla="*/ 0 h 13716"/>
              <a:gd name="connsiteX1" fmla="*/ 549250 w 1554480"/>
              <a:gd name="connsiteY1" fmla="*/ 0 h 13716"/>
              <a:gd name="connsiteX2" fmla="*/ 1082954 w 1554480"/>
              <a:gd name="connsiteY2" fmla="*/ 0 h 13716"/>
              <a:gd name="connsiteX3" fmla="*/ 1554480 w 1554480"/>
              <a:gd name="connsiteY3" fmla="*/ 0 h 13716"/>
              <a:gd name="connsiteX4" fmla="*/ 1554480 w 1554480"/>
              <a:gd name="connsiteY4" fmla="*/ 13716 h 13716"/>
              <a:gd name="connsiteX5" fmla="*/ 1067410 w 1554480"/>
              <a:gd name="connsiteY5" fmla="*/ 13716 h 13716"/>
              <a:gd name="connsiteX6" fmla="*/ 549250 w 1554480"/>
              <a:gd name="connsiteY6" fmla="*/ 13716 h 13716"/>
              <a:gd name="connsiteX7" fmla="*/ 0 w 1554480"/>
              <a:gd name="connsiteY7" fmla="*/ 13716 h 13716"/>
              <a:gd name="connsiteX8" fmla="*/ 0 w 1554480"/>
              <a:gd name="connsiteY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0721" y="502920"/>
            <a:ext cx="5170932" cy="1463040"/>
          </a:xfrm>
        </p:spPr>
        <p:txBody>
          <a:bodyPr anchor="ctr">
            <a:normAutofit/>
          </a:bodyPr>
          <a:lstStyle/>
          <a:p>
            <a:r>
              <a:rPr lang="en-US" sz="1900"/>
              <a:t>Visualization: Total Cases by State.</a:t>
            </a:r>
          </a:p>
          <a:p>
            <a:r>
              <a:rPr lang="en-US" sz="1900"/>
              <a:t>Method: Plotly Choropleth Map.</a:t>
            </a:r>
          </a:p>
          <a:p>
            <a:r>
              <a:rPr lang="en-US" sz="1900"/>
              <a:t>(Insert Choropleth Map Screenshot)</a:t>
            </a:r>
          </a:p>
          <a:p>
            <a:r>
              <a:rPr lang="en-US" sz="1900"/>
              <a:t>Insight: Higher cases in CA, TX, FL, NY.</a:t>
            </a:r>
          </a:p>
        </p:txBody>
      </p:sp>
      <p:pic>
        <p:nvPicPr>
          <p:cNvPr id="5" name="Picture 4" descr="A map of the united states&#10;&#10;AI-generated content may be incorrect.">
            <a:extLst>
              <a:ext uri="{FF2B5EF4-FFF2-40B4-BE49-F238E27FC236}">
                <a16:creationId xmlns:a16="http://schemas.microsoft.com/office/drawing/2014/main" id="{B66912D3-35AD-CF05-C0FB-DD7F461C2D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" y="2673864"/>
            <a:ext cx="8188452" cy="31934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502920"/>
            <a:ext cx="2564892" cy="146304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900"/>
              <a:t>Map Visualization 2: Bubble Map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480309" y="1227582"/>
            <a:ext cx="1554480" cy="13716"/>
          </a:xfrm>
          <a:custGeom>
            <a:avLst/>
            <a:gdLst>
              <a:gd name="connsiteX0" fmla="*/ 0 w 1554480"/>
              <a:gd name="connsiteY0" fmla="*/ 0 h 13716"/>
              <a:gd name="connsiteX1" fmla="*/ 549250 w 1554480"/>
              <a:gd name="connsiteY1" fmla="*/ 0 h 13716"/>
              <a:gd name="connsiteX2" fmla="*/ 1082954 w 1554480"/>
              <a:gd name="connsiteY2" fmla="*/ 0 h 13716"/>
              <a:gd name="connsiteX3" fmla="*/ 1554480 w 1554480"/>
              <a:gd name="connsiteY3" fmla="*/ 0 h 13716"/>
              <a:gd name="connsiteX4" fmla="*/ 1554480 w 1554480"/>
              <a:gd name="connsiteY4" fmla="*/ 13716 h 13716"/>
              <a:gd name="connsiteX5" fmla="*/ 1067410 w 1554480"/>
              <a:gd name="connsiteY5" fmla="*/ 13716 h 13716"/>
              <a:gd name="connsiteX6" fmla="*/ 549250 w 1554480"/>
              <a:gd name="connsiteY6" fmla="*/ 13716 h 13716"/>
              <a:gd name="connsiteX7" fmla="*/ 0 w 1554480"/>
              <a:gd name="connsiteY7" fmla="*/ 13716 h 13716"/>
              <a:gd name="connsiteX8" fmla="*/ 0 w 1554480"/>
              <a:gd name="connsiteY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0721" y="502920"/>
            <a:ext cx="5170932" cy="146304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600"/>
              <a:t>Visualization: Total Deaths by State.</a:t>
            </a:r>
          </a:p>
          <a:p>
            <a:pPr>
              <a:lnSpc>
                <a:spcPct val="90000"/>
              </a:lnSpc>
            </a:pPr>
            <a:r>
              <a:rPr lang="en-US" sz="1600"/>
              <a:t>Method: Folium Bubble Map with Marker Clusters.</a:t>
            </a:r>
          </a:p>
          <a:p>
            <a:pPr>
              <a:lnSpc>
                <a:spcPct val="90000"/>
              </a:lnSpc>
            </a:pPr>
            <a:r>
              <a:rPr lang="en-US" sz="1600"/>
              <a:t>(Insert Bubble Map Screenshot)</a:t>
            </a:r>
          </a:p>
          <a:p>
            <a:pPr>
              <a:lnSpc>
                <a:spcPct val="90000"/>
              </a:lnSpc>
            </a:pPr>
            <a:r>
              <a:rPr lang="en-US" sz="1600"/>
              <a:t>Insight: Death clusters in NY, CA, TX.</a:t>
            </a:r>
          </a:p>
        </p:txBody>
      </p:sp>
      <p:pic>
        <p:nvPicPr>
          <p:cNvPr id="5" name="Picture 4" descr="A map of the united states&#10;&#10;AI-generated content may be incorrect.">
            <a:extLst>
              <a:ext uri="{FF2B5EF4-FFF2-40B4-BE49-F238E27FC236}">
                <a16:creationId xmlns:a16="http://schemas.microsoft.com/office/drawing/2014/main" id="{8B415CA2-B422-5F6B-98DE-CE670F67B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" y="2458917"/>
            <a:ext cx="8188452" cy="362338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502920"/>
            <a:ext cx="2564892" cy="146304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/>
              <a:t>Aggregation Visualization 1: Histogram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480309" y="1227582"/>
            <a:ext cx="1554480" cy="13716"/>
          </a:xfrm>
          <a:custGeom>
            <a:avLst/>
            <a:gdLst>
              <a:gd name="connsiteX0" fmla="*/ 0 w 1554480"/>
              <a:gd name="connsiteY0" fmla="*/ 0 h 13716"/>
              <a:gd name="connsiteX1" fmla="*/ 549250 w 1554480"/>
              <a:gd name="connsiteY1" fmla="*/ 0 h 13716"/>
              <a:gd name="connsiteX2" fmla="*/ 1082954 w 1554480"/>
              <a:gd name="connsiteY2" fmla="*/ 0 h 13716"/>
              <a:gd name="connsiteX3" fmla="*/ 1554480 w 1554480"/>
              <a:gd name="connsiteY3" fmla="*/ 0 h 13716"/>
              <a:gd name="connsiteX4" fmla="*/ 1554480 w 1554480"/>
              <a:gd name="connsiteY4" fmla="*/ 13716 h 13716"/>
              <a:gd name="connsiteX5" fmla="*/ 1067410 w 1554480"/>
              <a:gd name="connsiteY5" fmla="*/ 13716 h 13716"/>
              <a:gd name="connsiteX6" fmla="*/ 549250 w 1554480"/>
              <a:gd name="connsiteY6" fmla="*/ 13716 h 13716"/>
              <a:gd name="connsiteX7" fmla="*/ 0 w 1554480"/>
              <a:gd name="connsiteY7" fmla="*/ 13716 h 13716"/>
              <a:gd name="connsiteX8" fmla="*/ 0 w 1554480"/>
              <a:gd name="connsiteY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0721" y="502920"/>
            <a:ext cx="5170932" cy="1463040"/>
          </a:xfrm>
        </p:spPr>
        <p:txBody>
          <a:bodyPr anchor="ctr">
            <a:normAutofit/>
          </a:bodyPr>
          <a:lstStyle/>
          <a:p>
            <a:r>
              <a:rPr lang="en-US" sz="1900"/>
              <a:t>Visualization: Distribution of Total Cases.</a:t>
            </a:r>
          </a:p>
          <a:p>
            <a:r>
              <a:rPr lang="en-US" sz="1900"/>
              <a:t>Method: Seaborn Histogram.</a:t>
            </a:r>
          </a:p>
          <a:p>
            <a:r>
              <a:rPr lang="en-US" sz="1900"/>
              <a:t>(Insert Histogram Screenshot)</a:t>
            </a:r>
          </a:p>
          <a:p>
            <a:r>
              <a:rPr lang="en-US" sz="1900"/>
              <a:t>Insight: Most states have &lt; 1 million cases.</a:t>
            </a:r>
          </a:p>
        </p:txBody>
      </p:sp>
      <p:pic>
        <p:nvPicPr>
          <p:cNvPr id="5" name="Picture 4" descr="A graph of covid-19 cases across states&#10;&#10;AI-generated content may be incorrect.">
            <a:extLst>
              <a:ext uri="{FF2B5EF4-FFF2-40B4-BE49-F238E27FC236}">
                <a16:creationId xmlns:a16="http://schemas.microsoft.com/office/drawing/2014/main" id="{E8B0A745-ED82-6E45-BB09-B4DB3C0DE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17" y="2290936"/>
            <a:ext cx="6856021" cy="39593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502920"/>
            <a:ext cx="2564892" cy="146304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/>
              <a:t>Aggregation Visualization 2: Boxplot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480309" y="1227582"/>
            <a:ext cx="1554480" cy="13716"/>
          </a:xfrm>
          <a:custGeom>
            <a:avLst/>
            <a:gdLst>
              <a:gd name="connsiteX0" fmla="*/ 0 w 1554480"/>
              <a:gd name="connsiteY0" fmla="*/ 0 h 13716"/>
              <a:gd name="connsiteX1" fmla="*/ 549250 w 1554480"/>
              <a:gd name="connsiteY1" fmla="*/ 0 h 13716"/>
              <a:gd name="connsiteX2" fmla="*/ 1082954 w 1554480"/>
              <a:gd name="connsiteY2" fmla="*/ 0 h 13716"/>
              <a:gd name="connsiteX3" fmla="*/ 1554480 w 1554480"/>
              <a:gd name="connsiteY3" fmla="*/ 0 h 13716"/>
              <a:gd name="connsiteX4" fmla="*/ 1554480 w 1554480"/>
              <a:gd name="connsiteY4" fmla="*/ 13716 h 13716"/>
              <a:gd name="connsiteX5" fmla="*/ 1067410 w 1554480"/>
              <a:gd name="connsiteY5" fmla="*/ 13716 h 13716"/>
              <a:gd name="connsiteX6" fmla="*/ 549250 w 1554480"/>
              <a:gd name="connsiteY6" fmla="*/ 13716 h 13716"/>
              <a:gd name="connsiteX7" fmla="*/ 0 w 1554480"/>
              <a:gd name="connsiteY7" fmla="*/ 13716 h 13716"/>
              <a:gd name="connsiteX8" fmla="*/ 0 w 1554480"/>
              <a:gd name="connsiteY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0721" y="502920"/>
            <a:ext cx="5170932" cy="146304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600"/>
              <a:t>Visualization: Spread of Deaths across States.</a:t>
            </a:r>
          </a:p>
          <a:p>
            <a:pPr>
              <a:lnSpc>
                <a:spcPct val="90000"/>
              </a:lnSpc>
            </a:pPr>
            <a:r>
              <a:rPr lang="en-US" sz="1600"/>
              <a:t>Method: Seaborn Boxplot.</a:t>
            </a:r>
          </a:p>
          <a:p>
            <a:pPr>
              <a:lnSpc>
                <a:spcPct val="90000"/>
              </a:lnSpc>
            </a:pPr>
            <a:r>
              <a:rPr lang="en-US" sz="1600"/>
              <a:t>(Insert Boxplot Screenshot)</a:t>
            </a:r>
          </a:p>
          <a:p>
            <a:pPr>
              <a:lnSpc>
                <a:spcPct val="90000"/>
              </a:lnSpc>
            </a:pPr>
            <a:r>
              <a:rPr lang="en-US" sz="1600"/>
              <a:t>Insight: Few states are outliers with very high deaths.</a:t>
            </a:r>
          </a:p>
        </p:txBody>
      </p:sp>
      <p:pic>
        <p:nvPicPr>
          <p:cNvPr id="5" name="Picture 4" descr="A graph of covid-19 deaths across the united states&#10;&#10;AI-generated content may be incorrect.">
            <a:extLst>
              <a:ext uri="{FF2B5EF4-FFF2-40B4-BE49-F238E27FC236}">
                <a16:creationId xmlns:a16="http://schemas.microsoft.com/office/drawing/2014/main" id="{57B6831A-1AB3-3367-BA56-55A742F78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312" y="2290936"/>
            <a:ext cx="6946232" cy="395935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502920"/>
            <a:ext cx="2564892" cy="146304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/>
              <a:t>Interactive Visualization: Time Series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480309" y="1227582"/>
            <a:ext cx="1554480" cy="13716"/>
          </a:xfrm>
          <a:custGeom>
            <a:avLst/>
            <a:gdLst>
              <a:gd name="connsiteX0" fmla="*/ 0 w 1554480"/>
              <a:gd name="connsiteY0" fmla="*/ 0 h 13716"/>
              <a:gd name="connsiteX1" fmla="*/ 549250 w 1554480"/>
              <a:gd name="connsiteY1" fmla="*/ 0 h 13716"/>
              <a:gd name="connsiteX2" fmla="*/ 1082954 w 1554480"/>
              <a:gd name="connsiteY2" fmla="*/ 0 h 13716"/>
              <a:gd name="connsiteX3" fmla="*/ 1554480 w 1554480"/>
              <a:gd name="connsiteY3" fmla="*/ 0 h 13716"/>
              <a:gd name="connsiteX4" fmla="*/ 1554480 w 1554480"/>
              <a:gd name="connsiteY4" fmla="*/ 13716 h 13716"/>
              <a:gd name="connsiteX5" fmla="*/ 1067410 w 1554480"/>
              <a:gd name="connsiteY5" fmla="*/ 13716 h 13716"/>
              <a:gd name="connsiteX6" fmla="*/ 549250 w 1554480"/>
              <a:gd name="connsiteY6" fmla="*/ 13716 h 13716"/>
              <a:gd name="connsiteX7" fmla="*/ 0 w 1554480"/>
              <a:gd name="connsiteY7" fmla="*/ 13716 h 13716"/>
              <a:gd name="connsiteX8" fmla="*/ 0 w 1554480"/>
              <a:gd name="connsiteY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0721" y="502920"/>
            <a:ext cx="5170932" cy="1463040"/>
          </a:xfrm>
        </p:spPr>
        <p:txBody>
          <a:bodyPr anchor="ctr">
            <a:normAutofit/>
          </a:bodyPr>
          <a:lstStyle/>
          <a:p>
            <a:r>
              <a:rPr lang="en-US" sz="1800"/>
              <a:t>Visualization: Cases Cumulative Over Time.</a:t>
            </a:r>
          </a:p>
          <a:p>
            <a:r>
              <a:rPr lang="en-US" sz="1800"/>
              <a:t>Method: Plotly Interactive Line Chart.</a:t>
            </a:r>
          </a:p>
          <a:p>
            <a:r>
              <a:rPr lang="en-US" sz="1800"/>
              <a:t>(Insert Time Series Plot Screenshot)</a:t>
            </a:r>
          </a:p>
          <a:p>
            <a:r>
              <a:rPr lang="en-US" sz="1800"/>
              <a:t>Insight: Exponential rise in 2020; stabilizing later.</a:t>
            </a:r>
          </a:p>
        </p:txBody>
      </p:sp>
      <p:pic>
        <p:nvPicPr>
          <p:cNvPr id="5" name="Picture 4" descr="A graph showing a line&#10;&#10;AI-generated content may be incorrect.">
            <a:extLst>
              <a:ext uri="{FF2B5EF4-FFF2-40B4-BE49-F238E27FC236}">
                <a16:creationId xmlns:a16="http://schemas.microsoft.com/office/drawing/2014/main" id="{AD790504-4A0E-1E40-9743-EC1BD1BAA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" y="2663628"/>
            <a:ext cx="8188452" cy="321396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Conclusion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n-US" sz="1900"/>
              <a:t>States like CA, TX, and FL recorded the highest cases.</a:t>
            </a:r>
          </a:p>
          <a:p>
            <a:r>
              <a:rPr lang="en-US" sz="1900"/>
              <a:t>COVID-19 death rates were unevenly distributed.</a:t>
            </a:r>
          </a:p>
          <a:p>
            <a:r>
              <a:rPr lang="en-US" sz="1900"/>
              <a:t>Time series shows early exponential outbreak phase.</a:t>
            </a:r>
          </a:p>
          <a:p>
            <a:r>
              <a:rPr lang="en-US" sz="1900"/>
              <a:t>Visualizations helped explore spatial and temporal patterns.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 dirty="0"/>
              <a:t>Demo Execution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n-US" sz="1900" dirty="0"/>
              <a:t>All codes executed successfully.</a:t>
            </a:r>
          </a:p>
          <a:p>
            <a:r>
              <a:rPr lang="en-US" sz="1900" dirty="0"/>
              <a:t>Live Choropleth and Bubble Maps displayed.</a:t>
            </a:r>
          </a:p>
          <a:p>
            <a:r>
              <a:rPr lang="en-US" sz="1900" dirty="0"/>
              <a:t>Interactive Time Series graph working.</a:t>
            </a:r>
          </a:p>
          <a:p>
            <a:r>
              <a:rPr lang="en-US" sz="1900" dirty="0"/>
              <a:t>LINK: </a:t>
            </a:r>
            <a:r>
              <a:rPr lang="en-US" sz="1900" dirty="0">
                <a:hlinkClick r:id="rId2"/>
              </a:rPr>
              <a:t>https://colab.research.google.com/drive/1bunuFX7nS75BQgY2eW1W0fcvrBYHLFq6?usp=chrome_ntp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References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n-US" sz="1900"/>
              <a:t>Dataset: COVID-19 Data Repository by Johns Hopkins University (CSSE)</a:t>
            </a:r>
          </a:p>
          <a:p>
            <a:r>
              <a:rPr lang="en-US" sz="1900"/>
              <a:t>https://github.com/CSSEGISandData/COVID-19</a:t>
            </a:r>
          </a:p>
          <a:p>
            <a:r>
              <a:rPr lang="en-US" sz="1900"/>
              <a:t>Plotly, Folium, Seaborn Libraries for visualization.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481</Words>
  <Application>Microsoft Office PowerPoint</Application>
  <PresentationFormat>On-screen Show (4:3)</PresentationFormat>
  <Paragraphs>62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COVID-19 Trends and Death Rates Analysis in the United States</vt:lpstr>
      <vt:lpstr>Project Overview</vt:lpstr>
      <vt:lpstr>Dataset Description</vt:lpstr>
      <vt:lpstr>Data Loading &amp; Cleaning</vt:lpstr>
      <vt:lpstr>Descriptive Statistics (EDA)</vt:lpstr>
      <vt:lpstr>Data Aggregation</vt:lpstr>
      <vt:lpstr>Map Visualization 1: Choropleth Map</vt:lpstr>
      <vt:lpstr>Map Visualization 2: Bubble Map</vt:lpstr>
      <vt:lpstr>Aggregation Visualization 1: Histogram</vt:lpstr>
      <vt:lpstr>Aggregation Visualization 2: Boxplot</vt:lpstr>
      <vt:lpstr>Interactive Visualization: Time Series</vt:lpstr>
      <vt:lpstr>Conclusion</vt:lpstr>
      <vt:lpstr>Demo Execution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VARSHITHA KAYITHI</dc:creator>
  <cp:keywords/>
  <dc:description>generated using python-pptx</dc:description>
  <cp:lastModifiedBy>VARSHITHA KAYITHI</cp:lastModifiedBy>
  <cp:revision>5</cp:revision>
  <dcterms:created xsi:type="dcterms:W3CDTF">2013-01-27T09:14:16Z</dcterms:created>
  <dcterms:modified xsi:type="dcterms:W3CDTF">2025-04-29T00:41:51Z</dcterms:modified>
  <cp:category/>
</cp:coreProperties>
</file>